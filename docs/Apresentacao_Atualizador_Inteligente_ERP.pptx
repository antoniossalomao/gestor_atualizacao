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10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473952"/>
            <a:ext cx="11064240" cy="0"/>
          </a:xfrm>
          <a:prstGeom prst="line">
            <a:avLst/>
          </a:prstGeom>
          <a:noFill/>
          <a:ln w="8890">
            <a:solidFill>
              <a:srgbClr val="3443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565392"/>
            <a:ext cx="6766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71807A"/>
                </a:solidFill>
              </a:rPr>
              <a:t>GESTOR DE ATUALIZAÇÕES  /  ATUALIZADOR INTELIGENTE DE ERP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731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spc="150" kern="0" dirty="0">
                <a:solidFill>
                  <a:srgbClr val="E5B9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ATUALIZADOR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13232" y="1828800"/>
            <a:ext cx="7040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EDF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Atualizador</a:t>
            </a:r>
            <a:endParaRPr lang="en-US" sz="3700" dirty="0"/>
          </a:p>
          <a:p>
            <a:pPr algn="l" indent="0" marL="0">
              <a:buNone/>
            </a:pPr>
            <a:r>
              <a:rPr lang="en-US" sz="3700" b="1" dirty="0">
                <a:solidFill>
                  <a:srgbClr val="EDF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Inteligente de ERP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749808" y="331927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A6B4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Orquestração em nuvem, agentes locais e segurança de dados.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49808" y="4114800"/>
            <a:ext cx="1051560" cy="0"/>
          </a:xfrm>
          <a:prstGeom prst="line">
            <a:avLst/>
          </a:prstGeom>
          <a:noFill/>
          <a:ln w="27940">
            <a:solidFill>
              <a:srgbClr val="E5B9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4425696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63C59A">
              <a:alpha val="18000"/>
            </a:srgbClr>
          </a:solidFill>
          <a:ln w="8890">
            <a:solidFill>
              <a:srgbClr val="63C59A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443484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63C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DOCUMENTO EXECUTIVO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49808" y="49651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18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Agosto de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 rot="1500000">
            <a:off x="7589520" y="91440"/>
            <a:ext cx="4297680" cy="4297680"/>
          </a:xfrm>
          <a:prstGeom prst="arc">
            <a:avLst/>
          </a:prstGeom>
          <a:noFill/>
          <a:ln w="17780">
            <a:solidFill>
              <a:srgbClr val="E5B96B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2000000">
            <a:off x="8229600" y="731520"/>
            <a:ext cx="3017520" cy="3017520"/>
          </a:xfrm>
          <a:prstGeom prst="arc">
            <a:avLst/>
          </a:prstGeom>
          <a:noFill/>
          <a:ln w="12700">
            <a:solidFill>
              <a:srgbClr val="63C59A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43800" y="5074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A6B4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Nuvem  •  Agente local  •  ERP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E5B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RESUMO EXECUTIVO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70408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DF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estamos construindo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76656" y="129844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6B4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Uma cadeia de atualização que reduz esforço manual sem retirar o controle do cliente.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76656" y="1737360"/>
            <a:ext cx="822960" cy="0"/>
          </a:xfrm>
          <a:prstGeom prst="line">
            <a:avLst/>
          </a:prstGeom>
          <a:noFill/>
          <a:ln w="27940">
            <a:solidFill>
              <a:srgbClr val="E5B9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377440"/>
            <a:ext cx="2267712" cy="1371600"/>
          </a:xfrm>
          <a:prstGeom prst="roundRect">
            <a:avLst>
              <a:gd name="adj" fmla="val 4667"/>
            </a:avLst>
          </a:prstGeom>
          <a:solidFill>
            <a:srgbClr val="1B2224"/>
          </a:solidFill>
          <a:ln w="10160">
            <a:solidFill>
              <a:srgbClr val="E5B9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" y="265176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5B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42416" y="30175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E5B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DETECTAR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42416" y="3383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DF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Encontrar novas versões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02736" y="2377440"/>
            <a:ext cx="2267712" cy="1371600"/>
          </a:xfrm>
          <a:prstGeom prst="roundRect">
            <a:avLst>
              <a:gd name="adj" fmla="val 4667"/>
            </a:avLst>
          </a:prstGeom>
          <a:solidFill>
            <a:srgbClr val="1B2224"/>
          </a:solidFill>
          <a:ln w="10160">
            <a:solidFill>
              <a:srgbClr val="63C5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22192" y="265176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3C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22192" y="30175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63C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PREPARAR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22192" y="3383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DF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Baixar e validar pacotes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82512" y="2377440"/>
            <a:ext cx="2267712" cy="1371600"/>
          </a:xfrm>
          <a:prstGeom prst="roundRect">
            <a:avLst>
              <a:gd name="adj" fmla="val 4667"/>
            </a:avLst>
          </a:prstGeom>
          <a:solidFill>
            <a:srgbClr val="1B2224"/>
          </a:solidFill>
          <a:ln w="10160">
            <a:solidFill>
              <a:srgbClr val="78A9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01968" y="265176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8A9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01968" y="30175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78A9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AUTORIZAR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601968" y="3383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DF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Respeitar o momento do cliente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162288" y="2377440"/>
            <a:ext cx="2267712" cy="1371600"/>
          </a:xfrm>
          <a:prstGeom prst="roundRect">
            <a:avLst>
              <a:gd name="adj" fmla="val 4667"/>
            </a:avLst>
          </a:prstGeom>
          <a:solidFill>
            <a:srgbClr val="1B2224"/>
          </a:solidFill>
          <a:ln w="10160">
            <a:solidFill>
              <a:srgbClr val="EF77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81744" y="265176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F7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381744" y="30175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EF7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EXECUTAR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381744" y="3383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DF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Atualizar com backup e rastreabilidade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280160" y="4754880"/>
            <a:ext cx="9601200" cy="640080"/>
          </a:xfrm>
          <a:prstGeom prst="roundRect">
            <a:avLst>
              <a:gd name="adj" fmla="val 10000"/>
            </a:avLst>
          </a:prstGeom>
          <a:solidFill>
            <a:srgbClr val="222C2E"/>
          </a:solidFill>
          <a:ln w="10160">
            <a:solidFill>
              <a:srgbClr val="3443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00200" y="49377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E5B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esperado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520440" y="4910328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DF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Atualizações repetíveis, observáveis e seguras para cada cliente.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E5B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CONTEXTO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70408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DF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desafio é maior que copiar arquivos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76656" y="129844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6B4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Uma atualização altera banco, executáveis e rotina de trabalho do cliente.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76656" y="1737360"/>
            <a:ext cx="822960" cy="0"/>
          </a:xfrm>
          <a:prstGeom prst="line">
            <a:avLst/>
          </a:prstGeom>
          <a:noFill/>
          <a:ln w="27940">
            <a:solidFill>
              <a:srgbClr val="E5B9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240280"/>
            <a:ext cx="5074920" cy="2880360"/>
          </a:xfrm>
          <a:prstGeom prst="roundRect">
            <a:avLst>
              <a:gd name="adj" fmla="val 2222"/>
            </a:avLst>
          </a:prstGeom>
          <a:solidFill>
            <a:srgbClr val="1B2224"/>
          </a:solidFill>
          <a:ln w="10160">
            <a:solidFill>
              <a:srgbClr val="3443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5603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EF7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RISCO OPERACIONAL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" y="2926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EDF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processo manual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1097280" y="3666744"/>
            <a:ext cx="64008" cy="64008"/>
          </a:xfrm>
          <a:prstGeom prst="ellipse">
            <a:avLst/>
          </a:prstGeom>
          <a:solidFill>
            <a:srgbClr val="E5B96B"/>
          </a:solidFill>
          <a:ln w="12700">
            <a:solidFill>
              <a:srgbClr val="E5B9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3566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6B4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 da disponibilidade do suporte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097280" y="4105656"/>
            <a:ext cx="64008" cy="64008"/>
          </a:xfrm>
          <a:prstGeom prst="ellipse">
            <a:avLst/>
          </a:prstGeom>
          <a:solidFill>
            <a:srgbClr val="E5B96B"/>
          </a:solidFill>
          <a:ln w="12700">
            <a:solidFill>
              <a:srgbClr val="E5B9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40050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6B4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Pode esquecer o backup antes do DDL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97280" y="4544568"/>
            <a:ext cx="64008" cy="64008"/>
          </a:xfrm>
          <a:prstGeom prst="ellipse">
            <a:avLst/>
          </a:prstGeom>
          <a:solidFill>
            <a:srgbClr val="E5B96B"/>
          </a:solidFill>
          <a:ln w="12700">
            <a:solidFill>
              <a:srgbClr val="E5B9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44439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6B4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Pode interromper o ERP no meio de uma venda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09360" y="2240280"/>
            <a:ext cx="5074920" cy="2880360"/>
          </a:xfrm>
          <a:prstGeom prst="roundRect">
            <a:avLst>
              <a:gd name="adj" fmla="val 2222"/>
            </a:avLst>
          </a:prstGeom>
          <a:solidFill>
            <a:srgbClr val="222C2E"/>
          </a:solidFill>
          <a:ln w="10160">
            <a:solidFill>
              <a:srgbClr val="E5B9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25603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63C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629400" y="29260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EDF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processo autônomo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6629400" y="3666744"/>
            <a:ext cx="64008" cy="64008"/>
          </a:xfrm>
          <a:prstGeom prst="ellipse">
            <a:avLst/>
          </a:prstGeom>
          <a:solidFill>
            <a:srgbClr val="E5B96B"/>
          </a:solidFill>
          <a:ln w="12700">
            <a:solidFill>
              <a:srgbClr val="E5B9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12280" y="3566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6B4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Detecta e prepara sem bloquear o usuário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629400" y="4105656"/>
            <a:ext cx="64008" cy="64008"/>
          </a:xfrm>
          <a:prstGeom prst="ellipse">
            <a:avLst/>
          </a:prstGeom>
          <a:solidFill>
            <a:srgbClr val="E5B96B"/>
          </a:solidFill>
          <a:ln w="12700">
            <a:solidFill>
              <a:srgbClr val="E5B9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40050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6B4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Pede permissão no momento correto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629400" y="4544568"/>
            <a:ext cx="64008" cy="64008"/>
          </a:xfrm>
          <a:prstGeom prst="ellipse">
            <a:avLst/>
          </a:prstGeom>
          <a:solidFill>
            <a:srgbClr val="E5B96B"/>
          </a:solidFill>
          <a:ln w="12700">
            <a:solidFill>
              <a:srgbClr val="E5B9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44439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6B4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Executa e registra cada etapa crítica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E5B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ARQUITETURA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70408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DF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Três papéis, uma atualização coordenada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76656" y="129844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6B4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arquitetura evita sobrecarregar o ERP atual com tarefas de infraestrutura.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76656" y="1737360"/>
            <a:ext cx="822960" cy="0"/>
          </a:xfrm>
          <a:prstGeom prst="line">
            <a:avLst/>
          </a:prstGeom>
          <a:noFill/>
          <a:ln w="27940">
            <a:solidFill>
              <a:srgbClr val="E5B9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331720"/>
            <a:ext cx="3246120" cy="2103120"/>
          </a:xfrm>
          <a:prstGeom prst="roundRect">
            <a:avLst>
              <a:gd name="adj" fmla="val 3043"/>
            </a:avLst>
          </a:prstGeom>
          <a:solidFill>
            <a:srgbClr val="1B2224"/>
          </a:solidFill>
          <a:ln w="10160">
            <a:solidFill>
              <a:srgbClr val="E5B9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63347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5B9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627632" y="268833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30" kern="0" dirty="0">
                <a:solidFill>
                  <a:srgbClr val="E5B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MENTE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51560" y="31821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DF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central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051560" y="363931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6B4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Versões, pacotes, clientes e logs.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60520" y="3154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5B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572000" y="2331720"/>
            <a:ext cx="3246120" cy="2103120"/>
          </a:xfrm>
          <a:prstGeom prst="roundRect">
            <a:avLst>
              <a:gd name="adj" fmla="val 3043"/>
            </a:avLst>
          </a:prstGeom>
          <a:solidFill>
            <a:srgbClr val="1B2224"/>
          </a:solidFill>
          <a:ln w="10160">
            <a:solidFill>
              <a:srgbClr val="63C5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263347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3C59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76672" y="268833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30" kern="0" dirty="0">
                <a:solidFill>
                  <a:srgbClr val="63C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MÚSCULO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800600" y="31821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DF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Agente C# / .NET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800600" y="363931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6B4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Downloads, Firebird, scripts e distribuição.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909560" y="3154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5B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321040" y="2331720"/>
            <a:ext cx="3246120" cy="2103120"/>
          </a:xfrm>
          <a:prstGeom prst="roundRect">
            <a:avLst>
              <a:gd name="adj" fmla="val 3043"/>
            </a:avLst>
          </a:prstGeom>
          <a:solidFill>
            <a:srgbClr val="1B2224"/>
          </a:solidFill>
          <a:ln w="10160">
            <a:solidFill>
              <a:srgbClr val="78A9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49640" y="263347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78A9C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125712" y="268833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30" kern="0" dirty="0">
                <a:solidFill>
                  <a:srgbClr val="78A9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ROSTO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549640" y="31821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DF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ERP Delphi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549640" y="363931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6B4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Interface e decisão do usuário.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88720" y="5074920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A6B4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Equipe acompanha pelo navegador. O trabalho pesado continua no servidor do cliente.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E5B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ARQUITETURA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70408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DF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Quem faz o quê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76656" y="129844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6B4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Responsabilidades claras reduzem acoplamento e facilitam suporte.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76656" y="1737360"/>
            <a:ext cx="822960" cy="0"/>
          </a:xfrm>
          <a:prstGeom prst="line">
            <a:avLst/>
          </a:prstGeom>
          <a:noFill/>
          <a:ln w="27940">
            <a:solidFill>
              <a:srgbClr val="E5B9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075688"/>
            <a:ext cx="10332720" cy="594360"/>
          </a:xfrm>
          <a:prstGeom prst="roundRect">
            <a:avLst>
              <a:gd name="adj" fmla="val 10769"/>
            </a:avLst>
          </a:prstGeom>
          <a:solidFill>
            <a:srgbClr val="1B2224"/>
          </a:solidFill>
          <a:ln w="10160">
            <a:solidFill>
              <a:srgbClr val="1B22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20370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10" kern="0" dirty="0">
                <a:solidFill>
                  <a:srgbClr val="E5B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CENTRAL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880360" y="216712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DF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Node.js + Express + SQLite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0" y="218541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6B4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Publica versões, entrega pacotes e recebe logs.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143000" y="297180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10" kern="0" dirty="0">
                <a:solidFill>
                  <a:srgbClr val="63C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AGENTE LOCAL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880360" y="293522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DF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C# + .NET 8 + Firebird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0" y="29535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6B4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Roda como serviço Windows e opera no ambiente do cliente.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68680" y="3611880"/>
            <a:ext cx="10332720" cy="594360"/>
          </a:xfrm>
          <a:prstGeom prst="roundRect">
            <a:avLst>
              <a:gd name="adj" fmla="val 10769"/>
            </a:avLst>
          </a:prstGeom>
          <a:solidFill>
            <a:srgbClr val="1B2224"/>
          </a:solidFill>
          <a:ln w="10160">
            <a:solidFill>
              <a:srgbClr val="1B22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373989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10" kern="0" dirty="0">
                <a:solidFill>
                  <a:srgbClr val="78A9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/ TERMINAIS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880360" y="3703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DF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Delphi + B_Vendas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69280" y="372160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6B4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Lê o estado, conversa com o usuário e distribui executáveis.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143000" y="450799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10" kern="0" dirty="0">
                <a:solidFill>
                  <a:srgbClr val="EF7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PACOTES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880360" y="447141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DF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.7z / .rar / .zip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69280" y="448970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6B4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Extração universal com 7za.exe e validação SHA-256.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85800" y="610819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718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desenho preserva o ERP existente e concentra a automação em um agente especializado.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E5B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CICLO DE ATUALIZAÇÃO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70408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DF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Fase 1  •  Preparo invisível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76656" y="129844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6B4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agente trabalha em segundo plano antes de pedir qualquer ação ao usuário.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76656" y="1737360"/>
            <a:ext cx="822960" cy="0"/>
          </a:xfrm>
          <a:prstGeom prst="line">
            <a:avLst/>
          </a:prstGeom>
          <a:noFill/>
          <a:ln w="27940">
            <a:solidFill>
              <a:srgbClr val="E5B9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240280"/>
            <a:ext cx="4892040" cy="1024128"/>
          </a:xfrm>
          <a:prstGeom prst="roundRect">
            <a:avLst>
              <a:gd name="adj" fmla="val 6250"/>
            </a:avLst>
          </a:prstGeom>
          <a:solidFill>
            <a:srgbClr val="1B2224"/>
          </a:solidFill>
          <a:ln w="10160">
            <a:solidFill>
              <a:srgbClr val="3443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441448"/>
            <a:ext cx="320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5B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91640" y="24048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DF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Consultar a API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691640" y="277063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6B4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Pergunta se existe uma versão superior para o CNPJ.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240280"/>
            <a:ext cx="4892040" cy="1024128"/>
          </a:xfrm>
          <a:prstGeom prst="roundRect">
            <a:avLst>
              <a:gd name="adj" fmla="val 6250"/>
            </a:avLst>
          </a:prstGeom>
          <a:solidFill>
            <a:srgbClr val="1B2224"/>
          </a:solidFill>
          <a:ln w="10160">
            <a:solidFill>
              <a:srgbClr val="3443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2441448"/>
            <a:ext cx="320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3C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223760" y="24048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DF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Baixar pacotes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223760" y="277063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6B4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Recebe somente os arquivos correspondentes ao cliente.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8680" y="3657600"/>
            <a:ext cx="4892040" cy="1024128"/>
          </a:xfrm>
          <a:prstGeom prst="roundRect">
            <a:avLst>
              <a:gd name="adj" fmla="val 6250"/>
            </a:avLst>
          </a:prstGeom>
          <a:solidFill>
            <a:srgbClr val="1B2224"/>
          </a:solidFill>
          <a:ln w="10160">
            <a:solidFill>
              <a:srgbClr val="3443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858768"/>
            <a:ext cx="320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8A9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91640" y="38221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DF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Extrair conteúdo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691640" y="418795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6B4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7za.exe lida com .7z, .rar e .zip.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3657600"/>
            <a:ext cx="4892040" cy="1024128"/>
          </a:xfrm>
          <a:prstGeom prst="roundRect">
            <a:avLst>
              <a:gd name="adj" fmla="val 6250"/>
            </a:avLst>
          </a:prstGeom>
          <a:solidFill>
            <a:srgbClr val="1B2224"/>
          </a:solidFill>
          <a:ln w="10160">
            <a:solidFill>
              <a:srgbClr val="3443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3858768"/>
            <a:ext cx="320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F7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223760" y="38221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DF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Marcar PENDENTE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223760" y="418795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6B4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Atualiza SYS_ATUALIZACAO no JUNIOR.fdb.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610819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718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da fase: a atualização está pronta, mas ainda não interrompe o cliente.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E5B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CICLO DE ATUALIZAÇÃO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70408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DF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Fase 2  •  Decisão do usuário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76656" y="129844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6B4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janela de atualização é escolhida pelo cliente, e não imposta pelo agente.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76656" y="1737360"/>
            <a:ext cx="822960" cy="0"/>
          </a:xfrm>
          <a:prstGeom prst="line">
            <a:avLst/>
          </a:prstGeom>
          <a:noFill/>
          <a:ln w="27940">
            <a:solidFill>
              <a:srgbClr val="E5B9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286000"/>
            <a:ext cx="3977640" cy="2606040"/>
          </a:xfrm>
          <a:prstGeom prst="roundRect">
            <a:avLst>
              <a:gd name="adj" fmla="val 2456"/>
            </a:avLst>
          </a:prstGeom>
          <a:solidFill>
            <a:srgbClr val="1B2224"/>
          </a:solidFill>
          <a:ln w="10160">
            <a:solidFill>
              <a:srgbClr val="E5B9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25880" y="2596896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78A9C7">
              <a:alpha val="18000"/>
            </a:srgbClr>
          </a:solidFill>
          <a:ln w="8890">
            <a:solidFill>
              <a:srgbClr val="78A9C7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260604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78A9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ERP DELPHI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325880" y="31272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DF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Nova versão pronta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25880" y="3703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6B4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sistema precisará ser reiniciado.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A6B4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Atualizar agora?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623560" y="2286000"/>
            <a:ext cx="5074920" cy="2606040"/>
          </a:xfrm>
          <a:prstGeom prst="roundRect">
            <a:avLst>
              <a:gd name="adj" fmla="val 2456"/>
            </a:avLst>
          </a:prstGeom>
          <a:solidFill>
            <a:srgbClr val="222C2E"/>
          </a:solidFill>
          <a:ln w="10160">
            <a:solidFill>
              <a:srgbClr val="3443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89320" y="267004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E5B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PENDENTE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269480" y="25968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718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818120" y="2670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78A9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AUTORIZADO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89320" y="3438144"/>
            <a:ext cx="64008" cy="64008"/>
          </a:xfrm>
          <a:prstGeom prst="ellipse">
            <a:avLst/>
          </a:prstGeom>
          <a:solidFill>
            <a:srgbClr val="E5B96B"/>
          </a:solidFill>
          <a:ln w="12700">
            <a:solidFill>
              <a:srgbClr val="E5B9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3337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6B4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Sim: grava AUTORIZADO e fecha o ERP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89320" y="3895344"/>
            <a:ext cx="64008" cy="64008"/>
          </a:xfrm>
          <a:prstGeom prst="ellipse">
            <a:avLst/>
          </a:prstGeom>
          <a:solidFill>
            <a:srgbClr val="E5B96B"/>
          </a:solidFill>
          <a:ln w="12700">
            <a:solidFill>
              <a:srgbClr val="E5B9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3794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6B4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Não: mantém o sistema operando normalmente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E5B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CICLO DE ATUALIZAÇÃO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70408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DF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Fases 3 e 4  •  Execução e distribuição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76656" y="129844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6B4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Depois da autorização, o agente assume o trabalho crítico de forma sequencial.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76656" y="1737360"/>
            <a:ext cx="822960" cy="0"/>
          </a:xfrm>
          <a:prstGeom prst="line">
            <a:avLst/>
          </a:prstGeom>
          <a:noFill/>
          <a:ln w="27940">
            <a:solidFill>
              <a:srgbClr val="E5B9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304288"/>
            <a:ext cx="4892040" cy="2011680"/>
          </a:xfrm>
          <a:prstGeom prst="roundRect">
            <a:avLst>
              <a:gd name="adj" fmla="val 3182"/>
            </a:avLst>
          </a:prstGeom>
          <a:solidFill>
            <a:srgbClr val="1B2224"/>
          </a:solidFill>
          <a:ln w="10160">
            <a:solidFill>
              <a:srgbClr val="EF77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61518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F77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783080" y="266090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10" kern="0" dirty="0">
                <a:solidFill>
                  <a:srgbClr val="EF7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EXECUÇÃO SEGURA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3000" y="3310128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DF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GFIX offline → Backup 1 → BScript → Backup 2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0" y="2304288"/>
            <a:ext cx="4892040" cy="2011680"/>
          </a:xfrm>
          <a:prstGeom prst="roundRect">
            <a:avLst>
              <a:gd name="adj" fmla="val 3182"/>
            </a:avLst>
          </a:prstGeom>
          <a:solidFill>
            <a:srgbClr val="1B2224"/>
          </a:solidFill>
          <a:ln w="10160">
            <a:solidFill>
              <a:srgbClr val="63C5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261518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3C59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315200" y="266090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10" kern="0" dirty="0">
                <a:solidFill>
                  <a:srgbClr val="63C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DISTRIBUIÇÃO LIMPA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675120" y="3310128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DF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Atualiza BEXE.fdb → GFIX online → terminais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828800" y="4892040"/>
            <a:ext cx="8412480" cy="594360"/>
          </a:xfrm>
          <a:prstGeom prst="roundRect">
            <a:avLst>
              <a:gd name="adj" fmla="val 10769"/>
            </a:avLst>
          </a:prstGeom>
          <a:solidFill>
            <a:srgbClr val="222C2E"/>
          </a:solidFill>
          <a:ln w="10160">
            <a:solidFill>
              <a:srgbClr val="3443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57400" y="509320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A6B4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banco volta online e os terminais recebem os executáveis pelo BEXE.fdb.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E5B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DECISÃO TÉCNICA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70408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DF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Firebird 2.5 exige disciplina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76656" y="129844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6B4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isolamento das conexões protege alterações de estrutura enquanto o banco está em uso.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76656" y="1737360"/>
            <a:ext cx="822960" cy="0"/>
          </a:xfrm>
          <a:prstGeom prst="line">
            <a:avLst/>
          </a:prstGeom>
          <a:noFill/>
          <a:ln w="27940">
            <a:solidFill>
              <a:srgbClr val="E5B9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240280"/>
            <a:ext cx="3246120" cy="2743200"/>
          </a:xfrm>
          <a:prstGeom prst="roundRect">
            <a:avLst>
              <a:gd name="adj" fmla="val 2333"/>
            </a:avLst>
          </a:prstGeom>
          <a:solidFill>
            <a:srgbClr val="1B2224"/>
          </a:solidFill>
          <a:ln w="10160">
            <a:solidFill>
              <a:srgbClr val="78A9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25603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78A9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QUE GFIX?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70432" y="294436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DF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Evitar “Object in use”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70432" y="374904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6B4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Conexões ativas podem impedir DDL. O agente isola o banco antes do script.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80560" y="2240280"/>
            <a:ext cx="3246120" cy="2743200"/>
          </a:xfrm>
          <a:prstGeom prst="roundRect">
            <a:avLst>
              <a:gd name="adj" fmla="val 2333"/>
            </a:avLst>
          </a:prstGeom>
          <a:solidFill>
            <a:srgbClr val="1B2224"/>
          </a:solidFill>
          <a:ln w="10160">
            <a:solidFill>
              <a:srgbClr val="E5B9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82312" y="25603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E5B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BACKUP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82312" y="2944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DF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Ponto de retorno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82312" y="374904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6B4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JUNIOR_PRE.fbk preserva o estado anterior à alteração.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92440" y="2240280"/>
            <a:ext cx="3246120" cy="2743200"/>
          </a:xfrm>
          <a:prstGeom prst="roundRect">
            <a:avLst>
              <a:gd name="adj" fmla="val 2333"/>
            </a:avLst>
          </a:prstGeom>
          <a:solidFill>
            <a:srgbClr val="1B2224"/>
          </a:solidFill>
          <a:ln w="10160">
            <a:solidFill>
              <a:srgbClr val="63C5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94192" y="25603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63C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BACKUP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394192" y="29443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DF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Estrutura modernizada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94192" y="374904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6B4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Depois do script, uma nova cópia registra o estado atualizado.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E5B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DECISÃO TÉCNICA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70408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DF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Um extrator para diferentes gerações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76656" y="129844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6B4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distribuição convive com pacotes novos e legados sem criar decodificadores específicos.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76656" y="1737360"/>
            <a:ext cx="822960" cy="0"/>
          </a:xfrm>
          <a:prstGeom prst="line">
            <a:avLst/>
          </a:prstGeom>
          <a:noFill/>
          <a:ln w="27940">
            <a:solidFill>
              <a:srgbClr val="E5B9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359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E5B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Pacote recebido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14400" y="2816352"/>
            <a:ext cx="914400" cy="658368"/>
          </a:xfrm>
          <a:prstGeom prst="roundRect">
            <a:avLst>
              <a:gd name="adj" fmla="val 9722"/>
            </a:avLst>
          </a:prstGeom>
          <a:solidFill>
            <a:srgbClr val="1B2224"/>
          </a:solidFill>
          <a:ln w="10160">
            <a:solidFill>
              <a:srgbClr val="3443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9992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F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.7z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148840" y="2816352"/>
            <a:ext cx="914400" cy="658368"/>
          </a:xfrm>
          <a:prstGeom prst="roundRect">
            <a:avLst>
              <a:gd name="adj" fmla="val 9722"/>
            </a:avLst>
          </a:prstGeom>
          <a:solidFill>
            <a:srgbClr val="1B2224"/>
          </a:solidFill>
          <a:ln w="10160">
            <a:solidFill>
              <a:srgbClr val="3443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48840" y="29992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F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.rar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383280" y="2816352"/>
            <a:ext cx="914400" cy="658368"/>
          </a:xfrm>
          <a:prstGeom prst="roundRect">
            <a:avLst>
              <a:gd name="adj" fmla="val 9722"/>
            </a:avLst>
          </a:prstGeom>
          <a:solidFill>
            <a:srgbClr val="1B2224"/>
          </a:solidFill>
          <a:ln w="10160">
            <a:solidFill>
              <a:srgbClr val="3443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29992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F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.zip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09160" y="29260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5B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486400" y="2487168"/>
            <a:ext cx="2286000" cy="1325880"/>
          </a:xfrm>
          <a:prstGeom prst="roundRect">
            <a:avLst>
              <a:gd name="adj" fmla="val 4828"/>
            </a:avLst>
          </a:prstGeom>
          <a:solidFill>
            <a:srgbClr val="222C2E"/>
          </a:solidFill>
          <a:ln w="10160">
            <a:solidFill>
              <a:srgbClr val="63C5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27797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3C59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7za.exe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86400" y="32461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4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motor universal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75320" y="29260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5B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006840" y="2487168"/>
            <a:ext cx="2057400" cy="1325880"/>
          </a:xfrm>
          <a:prstGeom prst="roundRect">
            <a:avLst>
              <a:gd name="adj" fmla="val 4828"/>
            </a:avLst>
          </a:prstGeom>
          <a:solidFill>
            <a:srgbClr val="1B2224"/>
          </a:solidFill>
          <a:ln w="10160">
            <a:solidFill>
              <a:srgbClr val="3443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06840" y="27889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F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.exe + scripts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006840" y="324612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4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pasta temporária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43400" y="4800600"/>
            <a:ext cx="3246120" cy="274320"/>
          </a:xfrm>
          <a:prstGeom prst="roundRect">
            <a:avLst>
              <a:gd name="adj" fmla="val 50000"/>
            </a:avLst>
          </a:prstGeom>
          <a:solidFill>
            <a:srgbClr val="E5B96B">
              <a:alpha val="18000"/>
            </a:srgbClr>
          </a:solidFill>
          <a:ln w="8890">
            <a:solidFill>
              <a:srgbClr val="E5B96B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43400" y="4809744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E5B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SHA-256 ANTES DA EXECUÇÃO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E5B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PRODUTO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70408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DF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Visão geral em um só lugar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76656" y="129844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6B4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tela Resumo ajuda a equipe a priorizar o que precisa de atenção.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76656" y="1737360"/>
            <a:ext cx="822960" cy="0"/>
          </a:xfrm>
          <a:prstGeom prst="line">
            <a:avLst/>
          </a:prstGeom>
          <a:noFill/>
          <a:ln w="27940">
            <a:solidFill>
              <a:srgbClr val="E5B9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504" y="1883664"/>
            <a:ext cx="7562088" cy="4242816"/>
          </a:xfrm>
          <a:prstGeom prst="roundRect">
            <a:avLst>
              <a:gd name="adj" fmla="val 1509"/>
            </a:avLst>
          </a:prstGeom>
          <a:solidFill>
            <a:srgbClr val="222C2E"/>
          </a:solidFill>
          <a:ln w="10160">
            <a:solidFill>
              <a:srgbClr val="344344"/>
            </a:solidFill>
            <a:prstDash val="solid"/>
          </a:ln>
        </p:spPr>
      </p:sp>
      <p:pic>
        <p:nvPicPr>
          <p:cNvPr id="7" name="Image 0" descr="C:\Users\Antonio\Desktop\Teste 1\web\docs\tela-resu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938528"/>
            <a:ext cx="7452360" cy="413308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549640" y="2194560"/>
            <a:ext cx="2834640" cy="3520440"/>
          </a:xfrm>
          <a:prstGeom prst="roundRect">
            <a:avLst>
              <a:gd name="adj" fmla="val 2258"/>
            </a:avLst>
          </a:prstGeom>
          <a:solidFill>
            <a:srgbClr val="1B2224"/>
          </a:solidFill>
          <a:ln w="10160">
            <a:solidFill>
              <a:srgbClr val="34434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851392" y="2487168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63C59A">
              <a:alpha val="18000"/>
            </a:srgbClr>
          </a:solidFill>
          <a:ln w="8890">
            <a:solidFill>
              <a:srgbClr val="63C59A">
                <a:alpha val="6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851392" y="249631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63C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TELA REAL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8851392" y="3017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DF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Leitura rápida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8851392" y="3712464"/>
            <a:ext cx="64008" cy="64008"/>
          </a:xfrm>
          <a:prstGeom prst="ellipse">
            <a:avLst/>
          </a:prstGeom>
          <a:solidFill>
            <a:srgbClr val="E5B96B"/>
          </a:solidFill>
          <a:ln w="12700">
            <a:solidFill>
              <a:srgbClr val="E5B9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034272" y="3611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6B4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373 clientes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851392" y="4123944"/>
            <a:ext cx="64008" cy="64008"/>
          </a:xfrm>
          <a:prstGeom prst="ellipse">
            <a:avLst/>
          </a:prstGeom>
          <a:solidFill>
            <a:srgbClr val="E5B96B"/>
          </a:solidFill>
          <a:ln w="12700">
            <a:solidFill>
              <a:srgbClr val="E5B96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034272" y="4023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6B4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755 atualizações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851392" y="4535424"/>
            <a:ext cx="64008" cy="64008"/>
          </a:xfrm>
          <a:prstGeom prst="ellipse">
            <a:avLst/>
          </a:prstGeom>
          <a:solidFill>
            <a:srgbClr val="E5B96B"/>
          </a:solidFill>
          <a:ln w="12700">
            <a:solidFill>
              <a:srgbClr val="E5B9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034272" y="4434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6B4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Atrasos em destaque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851392" y="5138928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A6B4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gestor começa pelo que exige ação.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E5B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PRODUTO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70408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DF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Distribuição com rastreabilidade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76656" y="129844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6B4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tela concentra preparo, publicação e acompanhamento dos agentes.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76656" y="1737360"/>
            <a:ext cx="822960" cy="0"/>
          </a:xfrm>
          <a:prstGeom prst="line">
            <a:avLst/>
          </a:prstGeom>
          <a:noFill/>
          <a:ln w="27940">
            <a:solidFill>
              <a:srgbClr val="E5B9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194560"/>
            <a:ext cx="2743200" cy="3520440"/>
          </a:xfrm>
          <a:prstGeom prst="roundRect">
            <a:avLst>
              <a:gd name="adj" fmla="val 2333"/>
            </a:avLst>
          </a:prstGeom>
          <a:solidFill>
            <a:srgbClr val="222C2E"/>
          </a:solidFill>
          <a:ln w="10160">
            <a:solidFill>
              <a:srgbClr val="3443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514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DF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fluxo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87552" y="309067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B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17320" y="30906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DF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Preparar o pacote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87552" y="360273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B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17320" y="360273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DF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Publicar a versão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7552" y="411480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B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17320" y="41148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DF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Acompanhar o agente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87552" y="462686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B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17320" y="46268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DF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Investigar ocorrências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803904" y="1883664"/>
            <a:ext cx="7744968" cy="4242816"/>
          </a:xfrm>
          <a:prstGeom prst="roundRect">
            <a:avLst>
              <a:gd name="adj" fmla="val 1509"/>
            </a:avLst>
          </a:prstGeom>
          <a:solidFill>
            <a:srgbClr val="222C2E"/>
          </a:solidFill>
          <a:ln w="10160">
            <a:solidFill>
              <a:srgbClr val="344344"/>
            </a:solidFill>
            <a:prstDash val="solid"/>
          </a:ln>
        </p:spPr>
      </p:sp>
      <p:pic>
        <p:nvPicPr>
          <p:cNvPr id="17" name="Image 0" descr="C:\Users\Antonio\Desktop\Teste 1\web\docs\tela-distribuic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58768" y="1938528"/>
            <a:ext cx="7635240" cy="413308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E5B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SEGURANÇA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70408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DF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Controle em todas as fronteiras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76656" y="129844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6B4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solução protege a comunicação, o pacote, o banco e a recuperação.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76656" y="1737360"/>
            <a:ext cx="822960" cy="0"/>
          </a:xfrm>
          <a:prstGeom prst="line">
            <a:avLst/>
          </a:prstGeom>
          <a:noFill/>
          <a:ln w="27940">
            <a:solidFill>
              <a:srgbClr val="E5B9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331720"/>
            <a:ext cx="4846320" cy="1005840"/>
          </a:xfrm>
          <a:prstGeom prst="roundRect">
            <a:avLst>
              <a:gd name="adj" fmla="val 6364"/>
            </a:avLst>
          </a:prstGeom>
          <a:solidFill>
            <a:srgbClr val="1B2224"/>
          </a:solidFill>
          <a:ln w="10160">
            <a:solidFill>
              <a:srgbClr val="3443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5328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10" kern="0" dirty="0">
                <a:solidFill>
                  <a:srgbClr val="E5B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94560" y="25146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DF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Token próprio do agente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355080" y="2331720"/>
            <a:ext cx="4846320" cy="1005840"/>
          </a:xfrm>
          <a:prstGeom prst="roundRect">
            <a:avLst>
              <a:gd name="adj" fmla="val 6364"/>
            </a:avLst>
          </a:prstGeom>
          <a:solidFill>
            <a:srgbClr val="1B2224"/>
          </a:solidFill>
          <a:ln w="10160">
            <a:solidFill>
              <a:srgbClr val="3443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25328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10" kern="0" dirty="0">
                <a:solidFill>
                  <a:srgbClr val="63C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PACOTE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680960" y="25146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DF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SHA-256 validado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68680" y="3703320"/>
            <a:ext cx="4846320" cy="1005840"/>
          </a:xfrm>
          <a:prstGeom prst="roundRect">
            <a:avLst>
              <a:gd name="adj" fmla="val 6364"/>
            </a:avLst>
          </a:prstGeom>
          <a:solidFill>
            <a:srgbClr val="1B2224"/>
          </a:solidFill>
          <a:ln w="10160">
            <a:solidFill>
              <a:srgbClr val="3443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39044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10" kern="0" dirty="0">
                <a:solidFill>
                  <a:srgbClr val="78A9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94560" y="38862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DF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GFIX + dois backups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355080" y="3703320"/>
            <a:ext cx="4846320" cy="1005840"/>
          </a:xfrm>
          <a:prstGeom prst="roundRect">
            <a:avLst>
              <a:gd name="adj" fmla="val 6364"/>
            </a:avLst>
          </a:prstGeom>
          <a:solidFill>
            <a:srgbClr val="1B2224"/>
          </a:solidFill>
          <a:ln w="10160">
            <a:solidFill>
              <a:srgbClr val="3443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39044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10" kern="0" dirty="0">
                <a:solidFill>
                  <a:srgbClr val="EF7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FALHA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680960" y="38862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DF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Rollback automatizado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1828800" y="5166360"/>
            <a:ext cx="8458200" cy="502920"/>
          </a:xfrm>
          <a:prstGeom prst="roundRect">
            <a:avLst>
              <a:gd name="adj" fmla="val 12727"/>
            </a:avLst>
          </a:prstGeom>
          <a:solidFill>
            <a:srgbClr val="222C2E"/>
          </a:solidFill>
          <a:ln w="10160">
            <a:solidFill>
              <a:srgbClr val="3443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57400" y="5330952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A6B4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 HTTPS, credenciais reais e schema confirmado, não há implantação segura em produção.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E5B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ESTADO ATUAL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70408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DF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já existe e o que falta validar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76656" y="129844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6B4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base técnica está funcionando; a última milha depende do ambiente real.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76656" y="1737360"/>
            <a:ext cx="822960" cy="0"/>
          </a:xfrm>
          <a:prstGeom prst="line">
            <a:avLst/>
          </a:prstGeom>
          <a:noFill/>
          <a:ln w="27940">
            <a:solidFill>
              <a:srgbClr val="E5B9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029968"/>
            <a:ext cx="10149840" cy="393192"/>
          </a:xfrm>
          <a:prstGeom prst="roundRect">
            <a:avLst>
              <a:gd name="adj" fmla="val 16279"/>
            </a:avLst>
          </a:prstGeom>
          <a:solidFill>
            <a:srgbClr val="1B2224"/>
          </a:solidFill>
          <a:ln w="10160">
            <a:solidFill>
              <a:srgbClr val="1B22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2084832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EDF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Painel web multiusuário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869680" y="2066544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63C59A">
              <a:alpha val="18000"/>
            </a:srgbClr>
          </a:solidFill>
          <a:ln w="8890">
            <a:solidFill>
              <a:srgbClr val="63C59A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0" y="207568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63C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PRONTO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280160" y="2606040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EDF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de versões e pacotes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869680" y="2587752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63C59A">
              <a:alpha val="18000"/>
            </a:srgbClr>
          </a:solidFill>
          <a:ln w="8890">
            <a:solidFill>
              <a:srgbClr val="63C59A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0" y="259689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63C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PRONTO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60120" y="3072384"/>
            <a:ext cx="10149840" cy="393192"/>
          </a:xfrm>
          <a:prstGeom prst="roundRect">
            <a:avLst>
              <a:gd name="adj" fmla="val 16279"/>
            </a:avLst>
          </a:prstGeom>
          <a:solidFill>
            <a:srgbClr val="1B2224"/>
          </a:solidFill>
          <a:ln w="10160">
            <a:solidFill>
              <a:srgbClr val="1B22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3127248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EDF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Agente C# compilável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869680" y="310896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63C59A">
              <a:alpha val="18000"/>
            </a:srgbClr>
          </a:solidFill>
          <a:ln w="8890">
            <a:solidFill>
              <a:srgbClr val="63C59A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0" y="311810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63C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PRONTO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280160" y="3648456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EDF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Autenticação e integridade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869680" y="3630168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63C59A">
              <a:alpha val="18000"/>
            </a:srgbClr>
          </a:solidFill>
          <a:ln w="8890">
            <a:solidFill>
              <a:srgbClr val="63C59A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0" y="363931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63C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PRONTO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960120" y="4114800"/>
            <a:ext cx="10149840" cy="393192"/>
          </a:xfrm>
          <a:prstGeom prst="roundRect">
            <a:avLst>
              <a:gd name="adj" fmla="val 16279"/>
            </a:avLst>
          </a:prstGeom>
          <a:solidFill>
            <a:srgbClr val="1B2224"/>
          </a:solidFill>
          <a:ln w="10160">
            <a:solidFill>
              <a:srgbClr val="1B22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80160" y="4169664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EDF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Firebird / BEXE reais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869680" y="4151376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E5B96B">
              <a:alpha val="18000"/>
            </a:srgbClr>
          </a:solidFill>
          <a:ln w="8890">
            <a:solidFill>
              <a:srgbClr val="E5B96B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0" y="416052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E5B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280160" y="4690872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EDF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Integração Delphi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869680" y="4672584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EF7770">
              <a:alpha val="18000"/>
            </a:srgbClr>
          </a:solidFill>
          <a:ln w="8890">
            <a:solidFill>
              <a:srgbClr val="EF7770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9680" y="468172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EF7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IMPLEMENTAR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85800" y="610819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718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Próxima prova de valor: um ciclo completo em ambiente de teste, com cópias descartáveis dos bancos.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E5B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IMPLANTAÇÃO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70408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DF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 protótipo ao piloto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76656" y="129844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6B4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sequência reduz risco e transforma validações em uma implantação controlada.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76656" y="1737360"/>
            <a:ext cx="822960" cy="0"/>
          </a:xfrm>
          <a:prstGeom prst="line">
            <a:avLst/>
          </a:prstGeom>
          <a:noFill/>
          <a:ln w="27940">
            <a:solidFill>
              <a:srgbClr val="E5B9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487168"/>
            <a:ext cx="2240280" cy="1508760"/>
          </a:xfrm>
          <a:prstGeom prst="roundRect">
            <a:avLst>
              <a:gd name="adj" fmla="val 4242"/>
            </a:avLst>
          </a:prstGeom>
          <a:solidFill>
            <a:srgbClr val="1B2224"/>
          </a:solidFill>
          <a:ln w="10160">
            <a:solidFill>
              <a:srgbClr val="E5B9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" y="27432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5B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42416" y="30815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10" kern="0" dirty="0">
                <a:solidFill>
                  <a:srgbClr val="E5B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42416" y="345643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DF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Schema Firebird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EDF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 BEXE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145536" y="30906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718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3602736" y="2487168"/>
            <a:ext cx="2240280" cy="1508760"/>
          </a:xfrm>
          <a:prstGeom prst="roundRect">
            <a:avLst>
              <a:gd name="adj" fmla="val 4242"/>
            </a:avLst>
          </a:prstGeom>
          <a:solidFill>
            <a:srgbClr val="1B2224"/>
          </a:solidFill>
          <a:ln w="10160">
            <a:solidFill>
              <a:srgbClr val="78A9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03904" y="27432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8A9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03904" y="30815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10" kern="0" dirty="0">
                <a:solidFill>
                  <a:srgbClr val="78A9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03904" y="345643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DF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Fluxo do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EDF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Delphi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07024" y="30906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718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6364224" y="2487168"/>
            <a:ext cx="2240280" cy="1508760"/>
          </a:xfrm>
          <a:prstGeom prst="roundRect">
            <a:avLst>
              <a:gd name="adj" fmla="val 4242"/>
            </a:avLst>
          </a:prstGeom>
          <a:solidFill>
            <a:srgbClr val="1B2224"/>
          </a:solidFill>
          <a:ln w="10160">
            <a:solidFill>
              <a:srgbClr val="63C5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65392" y="27432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3C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65392" y="30815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10" kern="0" dirty="0">
                <a:solidFill>
                  <a:srgbClr val="63C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PILOTAR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65392" y="345643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DF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Ciclo completo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EDF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 cliente teste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68512" y="30906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718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9125712" y="2487168"/>
            <a:ext cx="2240280" cy="1508760"/>
          </a:xfrm>
          <a:prstGeom prst="roundRect">
            <a:avLst>
              <a:gd name="adj" fmla="val 4242"/>
            </a:avLst>
          </a:prstGeom>
          <a:solidFill>
            <a:srgbClr val="1B2224"/>
          </a:solidFill>
          <a:ln w="10160">
            <a:solidFill>
              <a:srgbClr val="EF77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27432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F7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326880" y="30815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10" kern="0" dirty="0">
                <a:solidFill>
                  <a:srgbClr val="EF7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PUBLICAR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326880" y="345643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DF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Serviço Windows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EDF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 monitoramento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68680" y="4892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E5B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 de passagem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68680" y="5230368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DF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Só avançar quando backup, restauração, autorização e distribuição forem comprovados em teste.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E5B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GOVERNANÇA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70408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DF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Decisões que precisam ser fechadas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76656" y="129844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6B4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tecnologia está encaminhada; estas confirmações determinam a confiabilidade operacional.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76656" y="1737360"/>
            <a:ext cx="822960" cy="0"/>
          </a:xfrm>
          <a:prstGeom prst="line">
            <a:avLst/>
          </a:prstGeom>
          <a:noFill/>
          <a:ln w="27940">
            <a:solidFill>
              <a:srgbClr val="E5B9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0574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20" kern="0" dirty="0">
                <a:solidFill>
                  <a:srgbClr val="E5B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423160" y="203911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DF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Nomes e tipos reais das tabelas Firebird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51560" y="2404872"/>
            <a:ext cx="9966960" cy="0"/>
          </a:xfrm>
          <a:prstGeom prst="line">
            <a:avLst/>
          </a:prstGeom>
          <a:noFill/>
          <a:ln w="27940">
            <a:solidFill>
              <a:srgbClr val="3443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65176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20" kern="0" dirty="0">
                <a:solidFill>
                  <a:srgbClr val="78A9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COMANDO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423160" y="26334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DF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Parâmetros aceitos pelo BScript.exe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2999232"/>
            <a:ext cx="9966960" cy="0"/>
          </a:xfrm>
          <a:prstGeom prst="line">
            <a:avLst/>
          </a:prstGeom>
          <a:noFill/>
          <a:ln w="27940">
            <a:solidFill>
              <a:srgbClr val="3443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32461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20" kern="0" dirty="0">
                <a:solidFill>
                  <a:srgbClr val="EF7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RECUPERAÇÃO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423160" y="322783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DF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 de restauração com Firebird 2.5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51560" y="3593592"/>
            <a:ext cx="9966960" cy="0"/>
          </a:xfrm>
          <a:prstGeom prst="line">
            <a:avLst/>
          </a:prstGeom>
          <a:noFill/>
          <a:ln w="27940">
            <a:solidFill>
              <a:srgbClr val="3443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84048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20" kern="0" dirty="0">
                <a:solidFill>
                  <a:srgbClr val="63C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PRODUTO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423160" y="38221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DF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Leitura e gravação da flag pelo Delphi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4187952"/>
            <a:ext cx="9966960" cy="0"/>
          </a:xfrm>
          <a:prstGeom prst="line">
            <a:avLst/>
          </a:prstGeom>
          <a:noFill/>
          <a:ln w="27940">
            <a:solidFill>
              <a:srgbClr val="3443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44348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20" kern="0" dirty="0">
                <a:solidFill>
                  <a:srgbClr val="E5B9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OPERAÇÃO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423160" y="441655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DF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Permissões, HTTPS e serviço Windows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51560" y="4782312"/>
            <a:ext cx="9966960" cy="0"/>
          </a:xfrm>
          <a:prstGeom prst="line">
            <a:avLst/>
          </a:prstGeom>
          <a:noFill/>
          <a:ln w="27940">
            <a:solidFill>
              <a:srgbClr val="3443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610819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718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Esses itens não são detalhes de documentação: são os gates de entrada do piloto.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7498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spc="150" kern="0" dirty="0">
                <a:solidFill>
                  <a:srgbClr val="E5B9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ATUALIZADOR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13232" y="1920240"/>
            <a:ext cx="7498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EDF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Atualizações previsíveis.</a:t>
            </a:r>
            <a:endParaRPr lang="en-US" sz="3500" dirty="0"/>
          </a:p>
          <a:p>
            <a:pPr algn="l" indent="0" marL="0">
              <a:buNone/>
            </a:pPr>
            <a:r>
              <a:rPr lang="en-US" sz="3500" b="1" dirty="0">
                <a:solidFill>
                  <a:srgbClr val="EDF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Operação mais tranquila.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749808" y="338328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A6B4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Uma plataforma para transformar atualização de ERP em processo, não improviso.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49808" y="4187952"/>
            <a:ext cx="1097280" cy="0"/>
          </a:xfrm>
          <a:prstGeom prst="line">
            <a:avLst/>
          </a:prstGeom>
          <a:noFill/>
          <a:ln w="27940">
            <a:solidFill>
              <a:srgbClr val="E5B9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45720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3C59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Próximo passo: validar o primeiro ciclo completo.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452360" y="49834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718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Gestor de Atualizações de Clientes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Gestor de Atualizações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Atualizador Inteligente de ERP</dc:title>
  <dc:subject>Documento de arquitetura e apresentação executiva</dc:subject>
  <dc:creator>Gestor de Atualizações</dc:creator>
  <cp:lastModifiedBy>Gestor de Atualizações</cp:lastModifiedBy>
  <cp:revision>1</cp:revision>
  <dcterms:created xsi:type="dcterms:W3CDTF">2026-08-26T14:50:34Z</dcterms:created>
  <dcterms:modified xsi:type="dcterms:W3CDTF">2026-08-26T14:50:34Z</dcterms:modified>
</cp:coreProperties>
</file>